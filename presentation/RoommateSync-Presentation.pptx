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011680"/>
            <a:ext cx="8503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Calibri"/>
              </a:rPr>
              <a:t>ROOMMATESYNC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108960"/>
            <a:ext cx="85039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400" b="0">
                <a:solidFill>
                  <a:srgbClr val="5B8CFF"/>
                </a:solidFill>
                <a:latin typeface="Calibri"/>
              </a:rPr>
              <a:t>Find a room, split costs, manage house life — all in one 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206240"/>
            <a:ext cx="85039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400" b="0">
                <a:solidFill>
                  <a:srgbClr val="9AA6C2"/>
                </a:solidFill>
                <a:latin typeface="Calibri"/>
              </a:rPr>
              <a:t>● PHP 8.1  ● MySQL 8.0  ● HTML5 / CSS3  ● Vanilla JS  ● XAMPP  ● 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120640"/>
            <a:ext cx="85039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0">
                <a:solidFill>
                  <a:srgbClr val="9AA6C2"/>
                </a:solidFill>
                <a:latin typeface="Calibri"/>
              </a:rPr>
              <a:t>Team RoommateSync · Dadhichi · Shawki · Plabon  —  ISD Course Project, KUET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WHAT WE'LL COVER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Presentation Agenda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737360"/>
            <a:ext cx="5486400" cy="137160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745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1. Problem &amp; Solution</a:t>
            </a:r>
            <a:r>
              <a:rPr sz="1500">
                <a:solidFill>
                  <a:srgbClr val="9AA6C2"/>
                </a:solidFill>
                <a:latin typeface="Calibri"/>
              </a:rPr>
              <a:t> — why RoommateSync exists and what it delivers.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2. Modules</a:t>
            </a:r>
            <a:r>
              <a:rPr sz="1500">
                <a:solidFill>
                  <a:srgbClr val="9AA6C2"/>
                </a:solidFill>
                <a:latin typeface="Calibri"/>
              </a:rPr>
              <a:t> — the seven integrated feature modules.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55079" y="1737360"/>
            <a:ext cx="5486400" cy="137160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59" y="1874520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3. Architecture</a:t>
            </a:r>
            <a:r>
              <a:rPr sz="1500">
                <a:solidFill>
                  <a:srgbClr val="9AA6C2"/>
                </a:solidFill>
                <a:latin typeface="Calibri"/>
              </a:rPr>
              <a:t> — layers, data flow, deployment.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4. Data Model</a:t>
            </a:r>
            <a:r>
              <a:rPr sz="1500">
                <a:solidFill>
                  <a:srgbClr val="9AA6C2"/>
                </a:solidFill>
                <a:latin typeface="Calibri"/>
              </a:rPr>
              <a:t> — ERD, schema, relationships.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291839"/>
            <a:ext cx="5486400" cy="137160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28999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5. UML Diagrams</a:t>
            </a:r>
            <a:r>
              <a:rPr sz="1500">
                <a:solidFill>
                  <a:srgbClr val="9AA6C2"/>
                </a:solidFill>
                <a:latin typeface="Calibri"/>
              </a:rPr>
              <a:t> — use case, class, sequence, state, activity &amp; more.</a:t>
            </a:r>
          </a:p>
          <a:p>
            <a:pPr>
              <a:spcAft>
                <a:spcPts val="2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6. Process &amp; Results</a:t>
            </a:r>
            <a:r>
              <a:rPr sz="1500">
                <a:solidFill>
                  <a:srgbClr val="9AA6C2"/>
                </a:solidFill>
                <a:latin typeface="Calibri"/>
              </a:rPr>
              <a:t> — sprints, testing, team &amp; demo.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THE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2000" b="0">
                <a:solidFill>
                  <a:srgbClr val="E8EDF7"/>
                </a:solidFill>
                <a:latin typeface="Calibri"/>
              </a:rPr>
              <a:t>Students and young professionals relocating to cities like Dhaka struggle to find trustworthy roommates, verify listings, and manage shared expenses.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3566160" cy="237744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Fragmented discovery</a:t>
            </a:r>
            <a:r>
              <a:rPr sz="1500">
                <a:solidFill>
                  <a:srgbClr val="9AA6C2"/>
                </a:solidFill>
                <a:latin typeface="Calibri"/>
              </a:rPr>
              <a:t> — Facebook groups, word-of-mouth and spreadsheets, no single source of truth.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743200"/>
            <a:ext cx="3566160" cy="237744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29260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Trust gap</a:t>
            </a:r>
            <a:r>
              <a:rPr sz="1500">
                <a:solidFill>
                  <a:srgbClr val="9AA6C2"/>
                </a:solidFill>
                <a:latin typeface="Calibri"/>
              </a:rPr>
              <a:t> — no way to verify landlords or rate past roommates on compatibility.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2743200"/>
            <a:ext cx="3566160" cy="237744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92608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Shared-cost chaos</a:t>
            </a:r>
            <a:r>
              <a:rPr sz="1500">
                <a:solidFill>
                  <a:srgbClr val="9AA6C2"/>
                </a:solidFill>
                <a:latin typeface="Calibri"/>
              </a:rPr>
              <a:t> — splitting bills is manual, unfair and easy to lose track of.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600" b="0">
                <a:solidFill>
                  <a:srgbClr val="9AA6C2"/>
                </a:solidFill>
                <a:latin typeface="Calibri"/>
              </a:rPr>
              <a:t>Built as a university ISD project by a team of 3 students for the Bangladeshi rental market.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OUR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The Solution — One Unified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0">
                <a:solidFill>
                  <a:srgbClr val="E8EDF7"/>
                </a:solidFill>
                <a:latin typeface="Calibri"/>
              </a:rPr>
              <a:t>A full-stack PHP web app that unifies discovery, trust and shared-living management.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011680"/>
          <a:ext cx="1106423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5273"/>
                <a:gridCol w="2329313"/>
                <a:gridCol w="824965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What it does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Rental Marketplace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Browse, filter &amp; search listings by price, room type &amp; location — real-time.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Bill Split Calculator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Split bills proportionally by income with optional DB logging.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Viewing Booking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30-min slots with automatic conflict prevention.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Listing Upload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Landlords create listings with image upload &amp; validation.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Peer Review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Rate roommates; aggregated cleanliness &amp; communication scores.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Chat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Real-time polling messaging between accepted connections.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Connect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Double opt-in matching that unlocks chat when both accept.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UNDER THE HOOD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66160" cy="173736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5B8CFF"/>
                </a:solidFill>
                <a:latin typeface="Calibri"/>
              </a:rPr>
              <a:t>• Frontend</a:t>
            </a:r>
            <a:r>
              <a:rPr sz="1400">
                <a:solidFill>
                  <a:srgbClr val="9AA6C2"/>
                </a:solidFill>
                <a:latin typeface="Calibri"/>
              </a:rPr>
              <a:t>HTML5, CSS3, Vanilla JS — glassmorphism dark theme, responsive grid.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566160" cy="173736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5B8CFF"/>
                </a:solidFill>
                <a:latin typeface="Calibri"/>
              </a:rPr>
              <a:t>• Backend</a:t>
            </a:r>
            <a:r>
              <a:rPr sz="1400">
                <a:solidFill>
                  <a:srgbClr val="9AA6C2"/>
                </a:solidFill>
                <a:latin typeface="Calibri"/>
              </a:rPr>
              <a:t>PHP 8.1 (pure, no framework) — API endpoints &amp; session management.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566160" cy="173736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5B8CFF"/>
                </a:solidFill>
                <a:latin typeface="Calibri"/>
              </a:rPr>
              <a:t>• Database</a:t>
            </a:r>
            <a:r>
              <a:rPr sz="1400">
                <a:solidFill>
                  <a:srgbClr val="9AA6C2"/>
                </a:solidFill>
                <a:latin typeface="Calibri"/>
              </a:rPr>
              <a:t>MySQL 8.0 via XAMPP — relational storage, indexing, transactions.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3566160" cy="173736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5B8CFF"/>
                </a:solidFill>
                <a:latin typeface="Calibri"/>
              </a:rPr>
              <a:t>• Data Access</a:t>
            </a:r>
            <a:r>
              <a:rPr sz="1400">
                <a:solidFill>
                  <a:srgbClr val="9AA6C2"/>
                </a:solidFill>
                <a:latin typeface="Calibri"/>
              </a:rPr>
              <a:t>PDO singleton — prepared statements, transaction &amp; lock support.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840480"/>
            <a:ext cx="3566160" cy="173736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0233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5B8CFF"/>
                </a:solidFill>
                <a:latin typeface="Calibri"/>
              </a:rPr>
              <a:t>• Dev &amp; VCS</a:t>
            </a:r>
            <a:r>
              <a:rPr sz="1400">
                <a:solidFill>
                  <a:srgbClr val="9AA6C2"/>
                </a:solidFill>
                <a:latin typeface="Calibri"/>
              </a:rPr>
              <a:t>PHP built-in server (php -S), Git + GitHub, Jira, Zephyr.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840480"/>
            <a:ext cx="3566160" cy="173736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0233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5B8CFF"/>
                </a:solidFill>
                <a:latin typeface="Calibri"/>
              </a:rPr>
              <a:t>• Testing</a:t>
            </a:r>
            <a:r>
              <a:rPr sz="1400">
                <a:solidFill>
                  <a:srgbClr val="9AA6C2"/>
                </a:solidFill>
                <a:latin typeface="Calibri"/>
              </a:rPr>
              <a:t>Zephyr for Jira — 49 test cases across 7 cycles, 100% pass.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pic>
        <p:nvPicPr>
          <p:cNvPr id="4" name="Picture 3" descr="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737142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DATA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DFD Level 0 — Context</a:t>
            </a:r>
          </a:p>
        </p:txBody>
      </p:sp>
      <p:pic>
        <p:nvPicPr>
          <p:cNvPr id="4" name="Picture 3" descr="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418320" cy="166511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DATA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DFD Level 1 — Major Processes</a:t>
            </a:r>
          </a:p>
        </p:txBody>
      </p:sp>
      <p:pic>
        <p:nvPicPr>
          <p:cNvPr id="4" name="Picture 3" descr="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0"/>
            <a:ext cx="11430000" cy="27513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DATA FLOW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DFD Level 2 — Booking Detail</a:t>
            </a:r>
          </a:p>
        </p:txBody>
      </p:sp>
      <p:pic>
        <p:nvPicPr>
          <p:cNvPr id="4" name="Picture 3" descr="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332720" cy="802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Entity Relationship Diagram</a:t>
            </a:r>
          </a:p>
        </p:txBody>
      </p:sp>
      <p:pic>
        <p:nvPicPr>
          <p:cNvPr id="4" name="Picture 3" descr="d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45920"/>
            <a:ext cx="11064240" cy="26913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DATA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Database Schema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1844040"/>
                <a:gridCol w="553212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Rows (seed)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users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Accounts with roles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user_profiles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Lifestyle preferences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user_profile_tags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Interest tags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listings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Rental listings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appointments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Viewing bookings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connection_requests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Social pairs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messages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Chat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user_reviews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Peer reviews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bill_logs / bill_log_roommates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Saved splits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03504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5B8CFF"/>
                </a:solidFill>
                <a:latin typeface="Calibri"/>
              </a:rPr>
              <a:t>11 tables · 8 indexes · 12 foreign keys.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Use Case Diagram</a:t>
            </a:r>
          </a:p>
        </p:txBody>
      </p:sp>
      <p:pic>
        <p:nvPicPr>
          <p:cNvPr id="4" name="Picture 3" descr="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237481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Class Diagram (core entities)</a:t>
            </a:r>
          </a:p>
        </p:txBody>
      </p:sp>
      <p:pic>
        <p:nvPicPr>
          <p:cNvPr id="4" name="Picture 3" descr="d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314425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Sequence — Booking a Viewing</a:t>
            </a:r>
          </a:p>
        </p:txBody>
      </p:sp>
      <p:pic>
        <p:nvPicPr>
          <p:cNvPr id="4" name="Picture 3" descr="d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881360" cy="829215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Sequence — Connect &amp; Chat</a:t>
            </a:r>
          </a:p>
        </p:txBody>
      </p:sp>
      <p:pic>
        <p:nvPicPr>
          <p:cNvPr id="4" name="Picture 3" descr="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881360" cy="742426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Sequence — Register &amp; Login</a:t>
            </a:r>
          </a:p>
        </p:txBody>
      </p:sp>
      <p:pic>
        <p:nvPicPr>
          <p:cNvPr id="4" name="Picture 3" descr="d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881360" cy="1077728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Activity — Booking Flow</a:t>
            </a:r>
          </a:p>
        </p:txBody>
      </p:sp>
      <p:pic>
        <p:nvPicPr>
          <p:cNvPr id="4" name="Picture 3" descr="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881360" cy="313549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Activity — Connection Flow</a:t>
            </a:r>
          </a:p>
        </p:txBody>
      </p:sp>
      <p:pic>
        <p:nvPicPr>
          <p:cNvPr id="4" name="Picture 3" descr="d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881360" cy="3136801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Activity — Bill Split Flow</a:t>
            </a:r>
          </a:p>
        </p:txBody>
      </p:sp>
      <p:pic>
        <p:nvPicPr>
          <p:cNvPr id="4" name="Picture 3" descr="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0"/>
            <a:ext cx="10881360" cy="3633963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State Machine — Listing Status</a:t>
            </a:r>
          </a:p>
        </p:txBody>
      </p:sp>
      <p:pic>
        <p:nvPicPr>
          <p:cNvPr id="4" name="Picture 3" descr="d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418320" cy="9838989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State Machine — Appointment</a:t>
            </a:r>
          </a:p>
        </p:txBody>
      </p:sp>
      <p:pic>
        <p:nvPicPr>
          <p:cNvPr id="4" name="Picture 3" descr="d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418320" cy="1066594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State Machine — Connection</a:t>
            </a:r>
          </a:p>
        </p:txBody>
      </p:sp>
      <p:pic>
        <p:nvPicPr>
          <p:cNvPr id="4" name="Picture 3" descr="d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828800"/>
            <a:ext cx="9966960" cy="774615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State Machine — User Session</a:t>
            </a:r>
          </a:p>
        </p:txBody>
      </p:sp>
      <p:pic>
        <p:nvPicPr>
          <p:cNvPr id="4" name="Picture 3" descr="d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9418320" cy="1518298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Component Diagram</a:t>
            </a:r>
          </a:p>
        </p:txBody>
      </p:sp>
      <p:pic>
        <p:nvPicPr>
          <p:cNvPr id="4" name="Picture 3" descr="d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11247120" cy="31917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UML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Deployment Diagram</a:t>
            </a:r>
          </a:p>
        </p:txBody>
      </p:sp>
      <p:pic>
        <p:nvPicPr>
          <p:cNvPr id="4" name="Picture 3" descr="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10332720" cy="1028206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FEATURE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Module Highlights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66160" cy="173736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5B8CFF"/>
                </a:solidFill>
                <a:latin typeface="Calibri"/>
              </a:rPr>
              <a:t>• Marketplace</a:t>
            </a:r>
            <a:r>
              <a:rPr sz="1400">
                <a:solidFill>
                  <a:srgbClr val="9AA6C2"/>
                </a:solidFill>
                <a:latin typeface="Calibri"/>
              </a:rPr>
              <a:t>Real-time fetch() filtering by price, room type &amp; location; debounced 250ms.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566160" cy="173736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5B8CFF"/>
                </a:solidFill>
                <a:latin typeface="Calibri"/>
              </a:rPr>
              <a:t>• Bill Split</a:t>
            </a:r>
            <a:r>
              <a:rPr sz="1400">
                <a:solidFill>
                  <a:srgbClr val="9AA6C2"/>
                </a:solidFill>
                <a:latin typeface="Calibri"/>
              </a:rPr>
              <a:t>Share = income / combined × total; dynamic roommate rows; optional DB save.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566160" cy="173736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5B8CFF"/>
                </a:solidFill>
                <a:latin typeface="Calibri"/>
              </a:rPr>
              <a:t>• Booking</a:t>
            </a:r>
            <a:r>
              <a:rPr sz="1400">
                <a:solidFill>
                  <a:srgbClr val="9AA6C2"/>
                </a:solidFill>
                <a:latin typeface="Calibri"/>
              </a:rPr>
              <a:t>30-min slots 9:00–17:00; SELECT FOR UPDATE lock; 409 on conflict; transactional.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840480"/>
            <a:ext cx="3566160" cy="173736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5B8CFF"/>
                </a:solidFill>
                <a:latin typeface="Calibri"/>
              </a:rPr>
              <a:t>• Listing Upload</a:t>
            </a:r>
            <a:r>
              <a:rPr sz="1400">
                <a:solidFill>
                  <a:srgbClr val="9AA6C2"/>
                </a:solidFill>
                <a:latin typeface="Calibri"/>
              </a:rPr>
              <a:t>JPG/PNG only, 5MB max; house-rule checkboxes; landlord-only via RBAC.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3840480"/>
            <a:ext cx="3566160" cy="173736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40233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5B8CFF"/>
                </a:solidFill>
                <a:latin typeface="Calibri"/>
              </a:rPr>
              <a:t>• Social</a:t>
            </a:r>
            <a:r>
              <a:rPr sz="1400">
                <a:solidFill>
                  <a:srgbClr val="9AA6C2"/>
                </a:solidFill>
                <a:latin typeface="Calibri"/>
              </a:rPr>
              <a:t>Double opt-in Connect; 4s polling Chat with escapeHtml XSS guard; 1–5 reviews.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3840480"/>
            <a:ext cx="3566160" cy="173736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0233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400" b="1">
                <a:solidFill>
                  <a:srgbClr val="5B8CFF"/>
                </a:solidFill>
                <a:latin typeface="Calibri"/>
              </a:rPr>
              <a:t>• Auth</a:t>
            </a:r>
            <a:r>
              <a:rPr sz="1400">
                <a:solidFill>
                  <a:srgbClr val="9AA6C2"/>
                </a:solidFill>
                <a:latin typeface="Calibri"/>
              </a:rPr>
              <a:t>Session + remember-me cookie; bcrypt password_hash; roles tenant/landlord/admin.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API Endpoints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/>
                <a:gridCol w="4526280"/>
                <a:gridCol w="533095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Purpose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listings.php?api=listings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Filtered listings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expenses.php?api=calculate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Bill split breakdown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booking.php?api=available_slots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Booked slots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booking.php?api=book_viewing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Create appointment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connect_request.php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Send connection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send_message.php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Store message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fetch_messages.php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Poll thread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submit_review.php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Save review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get_user_reviews.php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Aggregated scores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Jira Sprint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1106424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900" b="0">
                <a:solidFill>
                  <a:srgbClr val="E8EDF7"/>
                </a:solidFill>
                <a:latin typeface="Calibri"/>
              </a:rPr>
              <a:t>Scrum board · 4 sprints · 18 stories · 53 points planned, 83 delivered.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0312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2020"/>
                <a:gridCol w="8298180"/>
                <a:gridCol w="1844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Sprint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Goal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Points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E8EDF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Foundation — DB, auth, layout, dashboard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E8EDF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Core — marketplace &amp; bill split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E8EDF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Booking &amp; listing upload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E8EDF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Social, polish, testing, docs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21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5120640"/>
            <a:ext cx="11064240" cy="91440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257800"/>
            <a:ext cx="10698480" cy="6400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800" b="1">
                <a:solidFill>
                  <a:srgbClr val="5B8CFF"/>
                </a:solidFill>
                <a:latin typeface="Calibri"/>
              </a:rPr>
              <a:t>Burndown: all sprints completed on time — 100% delivery across 8 weeks.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Zephyr Test Management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4040"/>
                <a:gridCol w="5532120"/>
                <a:gridCol w="1844040"/>
                <a:gridCol w="184404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Cycle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Module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Tests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Pass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E8EDF7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Authentication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E8EDF7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Marketplace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E8EDF7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Bill Split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E8EDF7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Booking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E8EDF7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Listing Upload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E8EDF7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Social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E8EDF7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Regression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E8EDF7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/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49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9AA6C2"/>
                          </a:solidFill>
                          <a:latin typeface="Calibri"/>
                        </a:rPr>
                        <a:t>49 (100%)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PEOPLE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Team &amp; Work Distribution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566160" cy="201168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Dadhichi Sarker Shayon</a:t>
            </a:r>
            <a:r>
              <a:rPr sz="1500">
                <a:solidFill>
                  <a:srgbClr val="9AA6C2"/>
                </a:solidFill>
                <a:latin typeface="Calibri"/>
              </a:rPr>
              <a:t>Team Lead / Full-Stack — architecture, auth, social, UI, docs.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28800"/>
            <a:ext cx="3566160" cy="201168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2628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Shawki</a:t>
            </a:r>
            <a:r>
              <a:rPr sz="1500">
                <a:solidFill>
                  <a:srgbClr val="9AA6C2"/>
                </a:solidFill>
                <a:latin typeface="Calibri"/>
              </a:rPr>
              <a:t>Backend — marketplace, bill split, booking, listing upload.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566160" cy="201168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20116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>
                <a:solidFill>
                  <a:srgbClr val="5B8CFF"/>
                </a:solidFill>
                <a:latin typeface="Calibri"/>
              </a:rPr>
              <a:t>• Plabon Barua</a:t>
            </a:r>
            <a:r>
              <a:rPr sz="1500">
                <a:solidFill>
                  <a:srgbClr val="9AA6C2"/>
                </a:solidFill>
                <a:latin typeface="Calibri"/>
              </a:rPr>
              <a:t>Database / Backend — schema, seed, project setup.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11064240" cy="13716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700" b="0">
                <a:solidFill>
                  <a:srgbClr val="9AA6C2"/>
                </a:solidFill>
                <a:latin typeface="Calibri"/>
              </a:rPr>
              <a:t>Commits: Dadhichi 8 (47%) · Shawki 5 (29%) · Plabon 3 (18%) · Merge 1 (6%).</a:t>
            </a:r>
          </a:p>
          <a:p>
            <a:pPr algn="l"/>
            <a:r>
              <a:rPr sz="1700" b="0">
                <a:solidFill>
                  <a:srgbClr val="9AA6C2"/>
                </a:solidFill>
                <a:latin typeface="Calibri"/>
              </a:rPr>
              <a:t>Branch strategy: main (protected) -&gt; feature branches dadhichi / shawki / plabon.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1300" b="1">
                <a:solidFill>
                  <a:srgbClr val="5B8CFF"/>
                </a:solidFill>
                <a:latin typeface="Calibri"/>
              </a:rPr>
              <a:t>TRY 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Demo Accounts &amp; Getting Started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737360"/>
          <a:ext cx="6766559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9977"/>
                <a:gridCol w="3383280"/>
                <a:gridCol w="1933302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Email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Password</a:t>
                      </a:r>
                    </a:p>
                  </a:txBody>
                  <a:tcPr marL="76200" marR="76200" marT="38100" marB="38100" anchor="ctr">
                    <a:solidFill>
                      <a:srgbClr val="5B8C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Tenant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ayesha@example.com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Roommate123!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Landlord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rakib@example.com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Roommate123!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Tenant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nusrat@example.com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Roommate123!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Landlord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sajid@example.com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Roommate123!</a:t>
                      </a:r>
                    </a:p>
                  </a:txBody>
                  <a:tcPr marL="76200" marR="76200" marT="38100" marB="38100" anchor="ctr">
                    <a:solidFill>
                      <a:srgbClr val="141A2E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E8EDF7"/>
                          </a:solidFill>
                          <a:latin typeface="Calibri"/>
                        </a:rPr>
                        <a:t>Tenant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tania@example.com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>
                          <a:solidFill>
                            <a:srgbClr val="9AA6C2"/>
                          </a:solidFill>
                          <a:latin typeface="Calibri"/>
                        </a:rPr>
                        <a:t>Roommate123!</a:t>
                      </a:r>
                    </a:p>
                  </a:txBody>
                  <a:tcPr marL="76200" marR="76200" marT="38100" marB="38100" anchor="ctr">
                    <a:solidFill>
                      <a:srgbClr val="1B2236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7680960" y="1737360"/>
            <a:ext cx="3931920" cy="2377440"/>
          </a:xfrm>
          <a:prstGeom prst="roundRect">
            <a:avLst/>
          </a:prstGeom>
          <a:solidFill>
            <a:srgbClr val="141A2E"/>
          </a:solidFill>
          <a:ln w="12700">
            <a:solidFill>
              <a:srgbClr val="2A33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0" y="1920240"/>
            <a:ext cx="36576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5B8CFF"/>
                </a:solidFill>
                <a:latin typeface="Calibri"/>
              </a:rPr>
              <a:t>• Setup</a:t>
            </a:r>
            <a:r>
              <a:rPr sz="1400">
                <a:solidFill>
                  <a:srgbClr val="9AA6C2"/>
                </a:solidFill>
                <a:latin typeface="Calibri"/>
              </a:rPr>
              <a:t> — import schema.sql &amp; seed.sql, then php -S localhost:8000.</a:t>
            </a:r>
          </a:p>
          <a:p>
            <a:pPr>
              <a:spcAft>
                <a:spcPts val="600"/>
              </a:spcAft>
            </a:pPr>
            <a:r>
              <a:rPr sz="1400" b="1">
                <a:solidFill>
                  <a:srgbClr val="5B8CFF"/>
                </a:solidFill>
                <a:latin typeface="Calibri"/>
              </a:rPr>
              <a:t>• Windows</a:t>
            </a:r>
            <a:r>
              <a:rPr sz="1400">
                <a:solidFill>
                  <a:srgbClr val="9AA6C2"/>
                </a:solidFill>
                <a:latin typeface="Calibri"/>
              </a:rPr>
              <a:t> — double-click start_server.bat, open localhost:8000.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194560"/>
            <a:ext cx="850392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Calibri"/>
              </a:rPr>
              <a:t>ROOMMATESYNC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91840"/>
            <a:ext cx="8503920" cy="73152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2200" b="0">
                <a:solidFill>
                  <a:srgbClr val="5B8CFF"/>
                </a:solidFill>
                <a:latin typeface="Calibri"/>
              </a:rPr>
              <a:t>Find a room, split costs, manage house life — all in one place.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297680"/>
            <a:ext cx="850392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600" b="0">
                <a:solidFill>
                  <a:srgbClr val="9AA6C2"/>
                </a:solidFill>
                <a:latin typeface="Calibri"/>
              </a:rPr>
              <a:t>Built with by Team RoommateSync · ISD Course Project, KUET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5029200"/>
            <a:ext cx="850392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/>
            <a:r>
              <a:rPr sz="1500" b="0">
                <a:solidFill>
                  <a:srgbClr val="9AA6C2"/>
                </a:solidFill>
                <a:latin typeface="Calibri"/>
              </a:rPr>
              <a:t>● PHP 8.1   ● MySQL 8.0   ● 100% Tests Passing   ● 7 Modules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